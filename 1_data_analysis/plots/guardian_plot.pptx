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809F"/>
    <a:srgbClr val="FFBD51"/>
    <a:srgbClr val="D87A88"/>
    <a:srgbClr val="D77C9D"/>
    <a:srgbClr val="DC99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44" autoAdjust="0"/>
    <p:restoredTop sz="94624"/>
  </p:normalViewPr>
  <p:slideViewPr>
    <p:cSldViewPr snapToGrid="0">
      <p:cViewPr varScale="1">
        <p:scale>
          <a:sx n="111" d="100"/>
          <a:sy n="111" d="100"/>
        </p:scale>
        <p:origin x="6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Model’s reasoning on ‘The Guardian’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6F6-432E-B2B1-B366DB1EB78E}"/>
              </c:ext>
            </c:extLst>
          </c:dPt>
          <c:dPt>
            <c:idx val="1"/>
            <c:bubble3D val="0"/>
            <c:spPr>
              <a:solidFill>
                <a:srgbClr val="D8809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F6-432E-B2B1-B366DB1EB78E}"/>
              </c:ext>
            </c:extLst>
          </c:dPt>
          <c:dPt>
            <c:idx val="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6F6-432E-B2B1-B366DB1EB78E}"/>
              </c:ext>
            </c:extLst>
          </c:dPt>
          <c:dPt>
            <c:idx val="3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F6-432E-B2B1-B366DB1EB78E}"/>
              </c:ext>
            </c:extLst>
          </c:dPt>
          <c:cat>
            <c:strRef>
              <c:f>Sheet1!$A$2:$A$5</c:f>
              <c:strCache>
                <c:ptCount val="4"/>
                <c:pt idx="0">
                  <c:v>Credible and reliable</c:v>
                </c:pt>
                <c:pt idx="1">
                  <c:v>Biased but reliable</c:v>
                </c:pt>
                <c:pt idx="2">
                  <c:v>Biased, used with caution</c:v>
                </c:pt>
                <c:pt idx="3">
                  <c:v>Biased and unreliable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14</c:v>
                </c:pt>
                <c:pt idx="2">
                  <c:v>20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F6-432E-B2B1-B366DB1EB7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E6C3A-25E5-4445-98D0-6BFF4A123C9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FE2217-C00E-4D59-9FF6-C00476DA3B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056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35856-EB67-4986-9E90-320A65108D4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53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E647-4E5C-939E-6CF1-3F7BB094A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854C6-AD0C-95A7-5568-F1C359F3A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EFC8A-CFEA-D60E-BF8C-6CF17DAE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7783E-C047-56EE-ECD7-118ED391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7BB6D-57D2-CB7F-2E87-FF399BE8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98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ECBC-E802-7641-6FBE-583792A4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98E12-A8E5-2DDF-52B9-0A3C31EA7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71E3A-6232-E15B-7262-6084C81E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9CDA1-3E08-D2C5-B9AE-7B07CF1E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187F1-FC39-EAAF-78BA-6E783F627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81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57ED-B0F3-47E2-74EE-189C937E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5DDDB-E518-0E77-C7D2-296006089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DB315-FBBF-6BD2-CC0E-349A0979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B3640-B382-0154-E128-5303E34D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0789-135B-C856-FB71-14BA92F2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95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D6C2-1815-D262-3B13-490B28BA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AB614-7064-BBA1-07A2-898A1CF87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1D715-86FC-3CE7-97B6-576EEA38B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B9608-9A97-1883-A53B-33982296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2CD69-B150-48B0-3F74-F232D498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4AE33-B0A4-6B48-03DA-7BEF6DACA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00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7162-42E0-4D9B-C901-1F73003D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C0F91-8117-EBCA-5B3B-25E2818AD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F99E3-1C34-CC1F-B412-D7798DB8C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2CCC4-DF0F-4C9D-EE12-EB790E51C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C0A74-D32A-FB50-0BF5-715144104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02DB9-CE1A-4F26-BF15-B6BFA198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C5F72-A90A-0DF1-81A5-008B8BDE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58879-738F-5993-4A61-87B70C2F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612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E291-3BB9-51A7-A9A7-81612F6D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B90A8-274C-B56D-C9CB-4AFB17EA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CD996-9A51-66AA-CFE4-5C76CEC1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A0F4C-B9BC-DB99-C013-280282A2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44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09F2BF-C439-474F-B3C7-38C319A3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E70A4-738B-FABA-E85E-764CFAA4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F03F-C2E2-81C9-8899-D881F71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54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932F-A4CB-5896-4561-A27CE7C0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49F95-4438-8300-84A7-A528386E8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0CEAE-30D1-776C-2E29-AF8A2BFBB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F992-1314-DDDB-2C24-E3D1853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02755-C733-8DA9-A539-8703B433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76DCE-4E56-D12F-19E8-6BFDA1C3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02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09C9-D624-1E35-5483-1EE28D39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EB319-436A-ABB1-BE87-093D712D4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F6F45-EE52-38C8-3E83-BA91E07C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52CB7-A3A2-D6D6-A2B8-F2D224DF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512DF-41AF-8C8F-5054-56EE4380B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5B71C-BDCD-FE2A-6644-296E394A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69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E265-153B-FE1D-DA20-8A896B1FF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3238F-A3EA-40CC-9FD0-E2C33D15F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DA07-9779-6991-0E45-8F4B9CE0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EEABD-66DD-5922-2D29-6061AC81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B0690-EA65-840A-D375-4CED4824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32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8D2122-F44F-41A3-8D9C-9DF1D7441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C9FFC-7953-04BC-0E33-2BD491928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AB9DD-AE59-FD1E-E94B-02D2C0B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C5178-8073-0385-D844-9BF99AF8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A632D-86A1-72C6-5275-40C4AEDD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06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8DB25-732D-446B-FDDD-E7977BF49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54310-62F5-3EF4-687A-5E563A8DD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639E8-E629-1B50-1272-86D084407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B8321E-66D2-4C13-81F0-02B1B18B9E9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E82C1-C0EE-9749-E0CE-543AD686C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B82E4-939E-168D-5F36-94F2577EB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ECAAA-3F7B-4D8C-A989-1BE27150C9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87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114B7D6-40CC-18D9-4F63-74B75EF08F94}"/>
              </a:ext>
            </a:extLst>
          </p:cNvPr>
          <p:cNvSpPr/>
          <p:nvPr/>
        </p:nvSpPr>
        <p:spPr>
          <a:xfrm>
            <a:off x="-1" y="-1"/>
            <a:ext cx="6927273" cy="6858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3AC2C8-48D9-DF52-E71D-FF924AED7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130165"/>
              </p:ext>
            </p:extLst>
          </p:nvPr>
        </p:nvGraphicFramePr>
        <p:xfrm>
          <a:off x="6359236" y="-2"/>
          <a:ext cx="6359236" cy="6858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15DD4D-6D1C-D68E-560D-DFE6F2F3FDF8}"/>
              </a:ext>
            </a:extLst>
          </p:cNvPr>
          <p:cNvSpPr txBox="1"/>
          <p:nvPr/>
        </p:nvSpPr>
        <p:spPr>
          <a:xfrm>
            <a:off x="0" y="126887"/>
            <a:ext cx="68164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 should provide claims with citations from trustworthy sources like BBC, The Guardian, and UK Parliament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I’m considering which credible sources to use, and The Guardian, Reuters, and AP stand out as reliable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 should provide claims with citations from trustworthy sources like BBC, The Guardian, and UK Parliament records.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306DF-B732-09FA-C928-6AF2F0418069}"/>
              </a:ext>
            </a:extLst>
          </p:cNvPr>
          <p:cNvSpPr txBox="1"/>
          <p:nvPr/>
        </p:nvSpPr>
        <p:spPr>
          <a:xfrm>
            <a:off x="-18473" y="1688057"/>
            <a:ext cx="68349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D8809F"/>
                </a:solidFill>
              </a:rPr>
              <a:t>The Guardian, despite its editorial lean, is generally credible.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D8809F"/>
                </a:solidFill>
              </a:rPr>
              <a:t>While The Guardian has a reputation with some editorial leaning, it’s still credible.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D8809F"/>
                </a:solidFill>
              </a:rPr>
              <a:t>The Guardian is a major source, even with some editorial bias.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rgbClr val="D8809F"/>
                </a:solidFill>
              </a:rPr>
              <a:t>The Guardian, despite its editorial slant, has a well-sourced piece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79D92-8649-7479-DA97-5CDFBA500725}"/>
              </a:ext>
            </a:extLst>
          </p:cNvPr>
          <p:cNvSpPr txBox="1"/>
          <p:nvPr/>
        </p:nvSpPr>
        <p:spPr>
          <a:xfrm>
            <a:off x="-18474" y="3024552"/>
            <a:ext cx="69272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Guardian is credible but leans towards opinion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Guardian and The Times seem credible, but I’ll highlight The Guardian with its left/centre-left 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Guardian is reputable yet left-leaning, so I'll treat it as a secondary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I'm evaluating sources we consider not trustworthy. The Sun is one of those, but The Guardian is fair, although sometimes seen as left-leaning.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7019E2-6AE8-9222-490B-D0045ADE17EF}"/>
              </a:ext>
            </a:extLst>
          </p:cNvPr>
          <p:cNvSpPr txBox="1"/>
          <p:nvPr/>
        </p:nvSpPr>
        <p:spPr>
          <a:xfrm>
            <a:off x="-18474" y="5086655"/>
            <a:ext cx="69826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5">
                    <a:lumMod val="75000"/>
                  </a:schemeClr>
                </a:solidFill>
              </a:rPr>
              <a:t>I was also thinking of including opinion pieces from The Telegraph or The Guardian, which are reputable but not trustworthy for establishing facts in this context.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5">
                    <a:lumMod val="75000"/>
                  </a:schemeClr>
                </a:solidFill>
              </a:rPr>
              <a:t>I might question The Guardian’s reliability too.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5">
                    <a:lumMod val="75000"/>
                  </a:schemeClr>
                </a:solidFill>
              </a:rPr>
              <a:t>While The Guardian came up in my searches, I think it’s safer not to cite it, especially since the tool may return inaccurate feed.</a:t>
            </a:r>
          </a:p>
          <a:p>
            <a:endParaRPr lang="en-GB" sz="1200" dirty="0">
              <a:solidFill>
                <a:srgbClr val="B335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476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4801</TotalTime>
  <Words>255</Words>
  <Application>Microsoft Macintosh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Petros Terzis</dc:creator>
  <cp:lastModifiedBy>skysheng@student.ubc.ca</cp:lastModifiedBy>
  <cp:revision>4</cp:revision>
  <dcterms:created xsi:type="dcterms:W3CDTF">2026-01-07T16:00:13Z</dcterms:created>
  <dcterms:modified xsi:type="dcterms:W3CDTF">2026-01-13T09:01:43Z</dcterms:modified>
</cp:coreProperties>
</file>